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myself and the project: a Unitree Go2 robot dog that investigates crime scenes. It reads bloodstain patterns, decides which areas are interesting, walks there, and estimates where the victim was, where the attacker stood, and where the weapon was dropped. Today I go through my four Readings 5 sources and use a small live demo for each one to show why it matters for that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roadmap for the talk. The pipeline goes from a crime-scene simulation, to RL training, to sim-to-real transfer, to the real Go2 through the SDK. The colour tags show which source supports each stage. Hwangbo and the survey cover the simulation-to-reality problem, Kine2Go gives ready-made motions for the Go2, and the Unitree SDK is where the trained policy actually reaches the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lesson from Hwangbo et al. is that you do not need a perfect physics model. They kept the easy parts (rigid links and contacts) as physics and learned only the hard part, the actuators. In the demo, the toy actuator hides a delay and a spring lag. The ideal model ignores both, the analytical model guesses the lag but misses the delay and friction, and the learned network sees a short history so it can pick up the delay. Move the delay slider and watch the ideal model's error grow. For our dog this means a policy trained on an idealized Go2 could fail, so logging real Go2 motor data through the SDK could be needed.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lesson from Hwangbo et al. is that you do not need a perfect physics model. They kept the easy parts (rigid links and contacts) as physics and learned only the hard part, the actuators. In the demo, the toy actuator hides a delay and a spring lag. The ideal model ignores both, the analytical model guesses the lag but misses the delay and friction, and the learned network sees a short history so it can pick up the delay. Move the delay slider and watch the ideal model's error grow. For our dog this means a policy trained on an idealized Go2 could fail, so logging real Go2 motor data through the SDK could be needed.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Slider default is 10 ms. The main lesson from Hwangbo et al. is that you do not need a perfect physics model. They kept the easy parts (rigid links and contacts) as physics and learned only the hard part, the actuators. In the demo, the toy actuator hides a delay and a spring lag. The ideal model ignores both, the analytical model guesses the lag but misses the delay and friction, and the learned network sees a short history so it can pick up the delay. Move the delay slider and watch the ideal model's error grow. For our dog this means a policy trained on an idealized Go2 could fail, so logging real Go2 motor data through the SDK could be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is a map of how the field closes the reality gap. Hwangbo made the simulator more realistic; later work mostly makes the policy tolerant of the remaining gap with domain randomization, teacher-student training and RMA. In the demo the fixed controller is tuned for one floor and looks great there, but on carpet-like friction or a heavier load it fails. The randomized controller gives up a little speed but succeeds on far more floors. Try the sliders to break the fixed controller. Note it can still fail far outside the randomization range, which is why the ranges must cover real scenes.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is a map of how the field closes the reality gap. Hwangbo made the simulator more realistic; later work mostly makes the policy tolerant of the remaining gap with domain randomization, teacher-student training and RMA. In the demo the fixed controller is tuned for one floor and looks great there, but on carpet-like friction or a heavier load it fails. The randomized controller gives up a little speed but succeeds on far more floors. Try the sliders to break the fixed controller. Note it can still fail far outside the randomization range, which is why the ranges must cover real scenes.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Kine2Go is basically the training pipeline from both papers run 40 times: a PPO policy in simulation per clip, on a Unitree Go2. Its logged fields line up with the observation and action spaces from the readings. Every policy is told what motion to make by a reference clip, so the gait comes from data rather than from the reward. For us, the dog clips are a source of careful search and sniffing motions. Be clear in the demo whether the real file loaded or the synthetic fallback is shown.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Kine2Go is basically the training pipeline from both papers run 40 times: a PPO policy in simulation per clip, on a Unitree Go2. Its logged fields line up with the observation and action spaces from the readings. Every policy is told what motion to make by a reference clip, so the gait comes from data rather than from the reward. For us, the dog clips are a source of careful search and sniffing motions. Be clear in the demo whether the real file loaded or the synthetic fallback is shown. The app lists the Hugging Face repo, downloads ONE motion.npy (never the full dataset) and plots it. If the download fails it falls back to a bundled SYNTHETIC trot that is not Kine2Go data. Only the (T, 61) shape, 60 Hz and the foot columns 36:48 come from my notes; other column meanings are assumed.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SDK is where deployment happens, which the primary reading covers in about one sentence. LowState lines up with the observations an RL policy needs and LowCmd's position target plus kp and kd is where a policy's output goes. The primary reading ran its policy at 200 Hz while the stand example writes commands every 2 ms, so the policy would run slower while the motors track the latest target, which is what the mock loop shows. The investigation layer uses the high-level Move command. This app never sends anything to real hardware.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SDK is where deployment happens, which the primary reading covers in about one sentence. LowState lines up with the observations an RL policy needs and LowCmd's position target plus kp and kd is where a policy's output goes. The primary reading ran its policy at 200 Hz while the stand example writes commands every 2 ms, so the policy would run slower while the motors track the latest target, which is what the mock loop shows. The investigation layer uses the high-level Move command. This app never sends anything to real hardware. mock_unitree.py copies the SHAPE of the SDK's API (SportClient.Move, LowState, LowCmd) without CycloneDDS. (a) A policy loop reads LowState, builds an observation, runs a tiny RANDOM network and writes q targets into LowCmd. (b) A synthetic stain map drives Move(vx, vy, vyaw) commands.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sources cover the whole pipeline. Hwangbo shows how to make the simulator realistic enough, the survey gives the tools to make the policy robust, Kine2Go gives a motion library for the exact robot we use, and the SDK is the bridge to the hardware. The next steps follow the pipeline from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follow the pipeline from left to right: simulation, training with randomization, logging real Go2 data, and deployment through the SDK with safety limits.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 references for the four sources, in alphabetical order.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91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728655" cy="2011680"/>
          </a:xfrm>
          <a:prstGeom prst="rect">
            <a:avLst/>
          </a:prstGeom>
          <a:noFill/>
        </p:spPr>
        <p:txBody>
          <a:bodyPr wrap="square" anchor="ctr" lIns="73152" rIns="73152" tIns="36576" bIns="36576">
            <a:spAutoFit/>
          </a:bodyPr>
          <a:lstStyle/>
          <a:p>
            <a:pPr algn="ctr">
              <a:spcAft>
                <a:spcPts val="800"/>
              </a:spcAft>
            </a:pPr>
            <a:r>
              <a:rPr sz="4400" b="1">
                <a:solidFill>
                  <a:srgbClr val="FFFFFF"/>
                </a:solidFill>
                <a:latin typeface="Calibri"/>
              </a:rPr>
              <a:t>Readings 5: From Research to a Crime-Scene Robot Dog</a:t>
            </a:r>
          </a:p>
        </p:txBody>
      </p:sp>
      <p:sp>
        <p:nvSpPr>
          <p:cNvPr id="5" name="TextBox 4"/>
          <p:cNvSpPr txBox="1"/>
          <p:nvPr/>
        </p:nvSpPr>
        <p:spPr>
          <a:xfrm>
            <a:off x="731520" y="3154680"/>
            <a:ext cx="10728655" cy="731520"/>
          </a:xfrm>
          <a:prstGeom prst="rect">
            <a:avLst/>
          </a:prstGeom>
          <a:noFill/>
        </p:spPr>
        <p:txBody>
          <a:bodyPr wrap="square" anchor="t" lIns="73152" rIns="73152" tIns="36576" bIns="36576">
            <a:spAutoFit/>
          </a:bodyPr>
          <a:lstStyle/>
          <a:p>
            <a:pPr algn="ctr">
              <a:spcAft>
                <a:spcPts val="800"/>
              </a:spcAft>
            </a:pPr>
            <a:r>
              <a:rPr sz="2400" b="0">
                <a:solidFill>
                  <a:srgbClr val="F5A623"/>
                </a:solidFill>
                <a:latin typeface="Calibri"/>
              </a:rPr>
              <a:t>Why each source matters for our crime-scene Unitree Go2</a:t>
            </a:r>
          </a:p>
        </p:txBody>
      </p:sp>
      <p:sp>
        <p:nvSpPr>
          <p:cNvPr id="6" name="TextBox 5"/>
          <p:cNvSpPr txBox="1"/>
          <p:nvPr/>
        </p:nvSpPr>
        <p:spPr>
          <a:xfrm>
            <a:off x="731520" y="4526280"/>
            <a:ext cx="10728655" cy="1737360"/>
          </a:xfrm>
          <a:prstGeom prst="rect">
            <a:avLst/>
          </a:prstGeom>
          <a:noFill/>
        </p:spPr>
        <p:txBody>
          <a:bodyPr wrap="square" anchor="t" lIns="73152" rIns="73152" tIns="36576" bIns="36576">
            <a:spAutoFit/>
          </a:bodyPr>
          <a:lstStyle/>
          <a:p>
            <a:pPr algn="ctr">
              <a:spcAft>
                <a:spcPts val="400"/>
              </a:spcAft>
            </a:pPr>
            <a:r>
              <a:rPr sz="2200" b="0">
                <a:solidFill>
                  <a:srgbClr val="FFFFFF"/>
                </a:solidFill>
                <a:latin typeface="Calibri"/>
              </a:rPr>
              <a:t>Connor Jarrett</a:t>
            </a:r>
          </a:p>
          <a:p>
            <a:pPr algn="ctr">
              <a:spcAft>
                <a:spcPts val="400"/>
              </a:spcAft>
            </a:pPr>
            <a:r>
              <a:rPr sz="2200" b="0">
                <a:solidFill>
                  <a:srgbClr val="FFFFFF"/>
                </a:solidFill>
                <a:latin typeface="Calibri"/>
              </a:rPr>
              <a:t>ENGR 6010 - AI in Robotics</a:t>
            </a:r>
          </a:p>
          <a:p>
            <a:pPr algn="ctr">
              <a:spcAft>
                <a:spcPts val="400"/>
              </a:spcAft>
            </a:pPr>
            <a:r>
              <a:rPr sz="2200" b="0">
                <a:solidFill>
                  <a:srgbClr val="FFFFFF"/>
                </a:solidFill>
                <a:latin typeface="Calibri"/>
              </a:rPr>
              <a:t>October 20,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The Project in One Picture</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2 / 14</a:t>
            </a:r>
          </a:p>
        </p:txBody>
      </p:sp>
      <p:pic>
        <p:nvPicPr>
          <p:cNvPr id="6" name="Picture 5" descr="pipeline.png"/>
          <p:cNvPicPr>
            <a:picLocks noChangeAspect="1"/>
          </p:cNvPicPr>
          <p:nvPr/>
        </p:nvPicPr>
        <p:blipFill>
          <a:blip r:embed="rId2"/>
          <a:stretch>
            <a:fillRect/>
          </a:stretch>
        </p:blipFill>
        <p:spPr>
          <a:xfrm>
            <a:off x="1220884" y="1280160"/>
            <a:ext cx="9749925" cy="3977639"/>
          </a:xfrm>
          <a:prstGeom prst="rect">
            <a:avLst/>
          </a:prstGeom>
        </p:spPr>
      </p:pic>
      <p:sp>
        <p:nvSpPr>
          <p:cNvPr id="7" name="TextBox 6"/>
          <p:cNvSpPr txBox="1"/>
          <p:nvPr/>
        </p:nvSpPr>
        <p:spPr>
          <a:xfrm>
            <a:off x="731520" y="5349240"/>
            <a:ext cx="11002975" cy="1371600"/>
          </a:xfrm>
          <a:prstGeom prst="rect">
            <a:avLst/>
          </a:prstGeom>
          <a:noFill/>
        </p:spPr>
        <p:txBody>
          <a:bodyPr wrap="square" anchor="t" lIns="73152" rIns="73152" tIns="36576" bIns="36576">
            <a:spAutoFit/>
          </a:bodyPr>
          <a:lstStyle/>
          <a:p>
            <a:pPr algn="l" marL="274320" indent="-274320">
              <a:spcAft>
                <a:spcPts val="400"/>
              </a:spcAft>
              <a:buClr>
                <a:srgbClr val="F5A623"/>
              </a:buClr>
              <a:buChar char="•"/>
            </a:pPr>
            <a:r>
              <a:rPr sz="1800" b="0">
                <a:solidFill>
                  <a:srgbClr val="14202E"/>
                </a:solidFill>
                <a:latin typeface="Calibri"/>
              </a:rPr>
              <a:t>Train in simulation, deploy on the real Go2.</a:t>
            </a:r>
          </a:p>
          <a:p>
            <a:pPr algn="l" marL="274320" indent="-274320">
              <a:spcAft>
                <a:spcPts val="400"/>
              </a:spcAft>
              <a:buClr>
                <a:srgbClr val="F5A623"/>
              </a:buClr>
              <a:buChar char="•"/>
            </a:pPr>
            <a:r>
              <a:rPr sz="1800" b="0">
                <a:solidFill>
                  <a:srgbClr val="14202E"/>
                </a:solidFill>
                <a:latin typeface="Calibri"/>
              </a:rPr>
              <a:t>A high-level investigation policy sends velocity commands to the dog.</a:t>
            </a:r>
          </a:p>
          <a:p>
            <a:pPr algn="l" marL="274320" indent="-274320">
              <a:spcAft>
                <a:spcPts val="400"/>
              </a:spcAft>
              <a:buClr>
                <a:srgbClr val="F5A623"/>
              </a:buClr>
              <a:buChar char="•"/>
            </a:pPr>
            <a:r>
              <a:rPr sz="1800" b="0">
                <a:solidFill>
                  <a:srgbClr val="14202E"/>
                </a:solidFill>
                <a:latin typeface="Calibri"/>
              </a:rPr>
              <a:t>The dog's locomotion has to work on real floors: wet, carpeted, cluttered.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200" b="1">
                <a:solidFill>
                  <a:srgbClr val="FFFFFF"/>
                </a:solidFill>
                <a:latin typeface="Calibri"/>
              </a:rPr>
              <a:t>Hwangbo: Why a Perfect Simulator Isn't Enough</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3 / 14</a:t>
            </a:r>
          </a:p>
        </p:txBody>
      </p:sp>
      <p:sp>
        <p:nvSpPr>
          <p:cNvPr id="6" name="Rounded Rectangle 5"/>
          <p:cNvSpPr/>
          <p:nvPr/>
        </p:nvSpPr>
        <p:spPr>
          <a:xfrm>
            <a:off x="457200" y="1252728"/>
            <a:ext cx="2926080" cy="384048"/>
          </a:xfrm>
          <a:prstGeom prst="round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Hwangbo et al. (2019)</a:t>
            </a:r>
          </a:p>
        </p:txBody>
      </p:sp>
      <p:sp>
        <p:nvSpPr>
          <p:cNvPr id="7" name="TextBox 6"/>
          <p:cNvSpPr txBox="1"/>
          <p:nvPr/>
        </p:nvSpPr>
        <p:spPr>
          <a:xfrm>
            <a:off x="457200" y="1737360"/>
            <a:ext cx="11277295" cy="4937759"/>
          </a:xfrm>
          <a:prstGeom prst="rect">
            <a:avLst/>
          </a:prstGeom>
          <a:noFill/>
        </p:spPr>
        <p:txBody>
          <a:bodyPr wrap="square" anchor="t" lIns="73152" rIns="73152" tIns="36576" bIns="36576">
            <a:spAutoFit/>
          </a:bodyPr>
          <a:lstStyle/>
          <a:p>
            <a:pPr algn="l" marL="274320" indent="-274320">
              <a:spcAft>
                <a:spcPts val="700"/>
              </a:spcAft>
              <a:buClr>
                <a:srgbClr val="F5A623"/>
              </a:buClr>
              <a:buChar char="•"/>
            </a:pPr>
            <a:r>
              <a:rPr sz="1700" b="0">
                <a:solidFill>
                  <a:srgbClr val="14202E"/>
                </a:solidFill>
                <a:latin typeface="Calibri"/>
              </a:rPr>
              <a:t>Problem: hand-tuned controllers take months; RL on a real robot is slow, expensive and risky; simulation-trained policies usually fail on hardware (the "reality gap").</a:t>
            </a:r>
          </a:p>
          <a:p>
            <a:pPr algn="l" marL="274320" indent="-274320">
              <a:spcAft>
                <a:spcPts val="700"/>
              </a:spcAft>
              <a:buClr>
                <a:srgbClr val="F5A623"/>
              </a:buClr>
              <a:buChar char="•"/>
            </a:pPr>
            <a:r>
              <a:rPr sz="1700" b="0">
                <a:solidFill>
                  <a:srgbClr val="14202E"/>
                </a:solidFill>
                <a:latin typeface="Calibri"/>
              </a:rPr>
              <a:t>ANYmal: ~32 kg quadruped with 12 series-elastic actuators that are very hard to model analytically.</a:t>
            </a:r>
          </a:p>
          <a:p>
            <a:pPr algn="l" marL="274320" indent="-274320">
              <a:spcAft>
                <a:spcPts val="700"/>
              </a:spcAft>
              <a:buClr>
                <a:srgbClr val="F5A623"/>
              </a:buClr>
              <a:buChar char="•"/>
            </a:pPr>
            <a:r>
              <a:rPr sz="1700" b="0">
                <a:solidFill>
                  <a:srgbClr val="14202E"/>
                </a:solidFill>
                <a:latin typeface="Calibri"/>
              </a:rPr>
              <a:t>Hybrid simulator: rigid-body physics (randomized inertial properties) + a learned actuator network.</a:t>
            </a:r>
          </a:p>
          <a:p>
            <a:pPr algn="l" marL="274320" indent="-274320">
              <a:spcAft>
                <a:spcPts val="700"/>
              </a:spcAft>
              <a:buClr>
                <a:srgbClr val="F5A623"/>
              </a:buClr>
              <a:buChar char="•"/>
            </a:pPr>
            <a:r>
              <a:rPr sz="1700" b="0">
                <a:solidFill>
                  <a:srgbClr val="14202E"/>
                </a:solidFill>
                <a:latin typeface="Calibri"/>
              </a:rPr>
              <a:t>Actuator network: small MLP predicting torque from a short history of position errors and velocities, trained on ~4 minutes of real robot data.</a:t>
            </a:r>
          </a:p>
          <a:p>
            <a:pPr algn="l" marL="274320" indent="-274320">
              <a:spcAft>
                <a:spcPts val="700"/>
              </a:spcAft>
              <a:buClr>
                <a:srgbClr val="F5A623"/>
              </a:buClr>
              <a:buChar char="•"/>
            </a:pPr>
            <a:r>
              <a:rPr sz="1700" b="0">
                <a:solidFill>
                  <a:srgbClr val="14202E"/>
                </a:solidFill>
                <a:latin typeface="Calibri"/>
              </a:rPr>
              <a:t>Policy (TRPO) outputs joint position targets -&gt; PD controller -&gt; torque; curriculum on penalties; noise on velocity observations; bounded tanh activation.</a:t>
            </a:r>
          </a:p>
          <a:p>
            <a:pPr algn="l" marL="274320" indent="-274320">
              <a:spcAft>
                <a:spcPts val="700"/>
              </a:spcAft>
              <a:buClr>
                <a:srgbClr val="F5A623"/>
              </a:buClr>
              <a:buChar char="•"/>
            </a:pPr>
            <a:r>
              <a:rPr sz="1700" b="0">
                <a:solidFill>
                  <a:srgbClr val="14202E"/>
                </a:solidFill>
                <a:latin typeface="Calibri"/>
              </a:rPr>
              <a:t>Zero-shot transfer: weights copied to the robot with no fine-tuning.</a:t>
            </a:r>
          </a:p>
          <a:p>
            <a:pPr algn="l" marL="274320" indent="-274320">
              <a:spcAft>
                <a:spcPts val="700"/>
              </a:spcAft>
              <a:buClr>
                <a:srgbClr val="F5A623"/>
              </a:buClr>
              <a:buChar char="•"/>
            </a:pPr>
            <a:r>
              <a:rPr sz="1700" b="0">
                <a:solidFill>
                  <a:srgbClr val="14202E"/>
                </a:solidFill>
                <a:latin typeface="Calibri"/>
              </a:rPr>
              <a:t>Results: better velocity tracking than the best model-based controller with less torque and power; ~1.5 m/s (25% faster than the previous record); fall recovery in all 9 hardware trials.</a:t>
            </a:r>
          </a:p>
          <a:p>
            <a:pPr algn="l" marL="274320" indent="-274320">
              <a:spcAft>
                <a:spcPts val="700"/>
              </a:spcAft>
              <a:buClr>
                <a:srgbClr val="F5A623"/>
              </a:buClr>
              <a:buChar char="•"/>
            </a:pPr>
            <a:r>
              <a:rPr sz="1700" b="0">
                <a:solidFill>
                  <a:srgbClr val="14202E"/>
                </a:solidFill>
                <a:latin typeface="Calibri"/>
              </a:rPr>
              <a:t>Ablation: with an ideal or hand-tuned analytical actuator model, policies could not take a single step on the real robot.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Demo: Toy Actuator Network</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4 / 14</a:t>
            </a:r>
          </a:p>
        </p:txBody>
      </p:sp>
      <p:sp>
        <p:nvSpPr>
          <p:cNvPr id="6" name="Rounded Rectangle 5"/>
          <p:cNvSpPr/>
          <p:nvPr/>
        </p:nvSpPr>
        <p:spPr>
          <a:xfrm>
            <a:off x="457200" y="1252728"/>
            <a:ext cx="2926080" cy="384048"/>
          </a:xfrm>
          <a:prstGeom prst="round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Hwangbo et al. (2019)</a:t>
            </a:r>
          </a:p>
        </p:txBody>
      </p:sp>
      <p:pic>
        <p:nvPicPr>
          <p:cNvPr id="7" name="Picture 6" descr="actuator_comparison.png"/>
          <p:cNvPicPr>
            <a:picLocks noChangeAspect="1"/>
          </p:cNvPicPr>
          <p:nvPr/>
        </p:nvPicPr>
        <p:blipFill>
          <a:blip r:embed="rId2"/>
          <a:stretch>
            <a:fillRect/>
          </a:stretch>
        </p:blipFill>
        <p:spPr>
          <a:xfrm>
            <a:off x="1089258" y="1691639"/>
            <a:ext cx="6691162" cy="3931920"/>
          </a:xfrm>
          <a:prstGeom prst="rect">
            <a:avLst/>
          </a:prstGeom>
        </p:spPr>
      </p:pic>
      <p:sp>
        <p:nvSpPr>
          <p:cNvPr id="8" name="TextBox 7"/>
          <p:cNvSpPr txBox="1"/>
          <p:nvPr/>
        </p:nvSpPr>
        <p:spPr>
          <a:xfrm>
            <a:off x="8641080" y="1783080"/>
            <a:ext cx="3154680" cy="2194560"/>
          </a:xfrm>
          <a:prstGeom prst="rect">
            <a:avLst/>
          </a:prstGeom>
          <a:noFill/>
        </p:spPr>
        <p:txBody>
          <a:bodyPr wrap="square" anchor="t" lIns="73152" rIns="73152" tIns="36576" bIns="36576">
            <a:spAutoFit/>
          </a:bodyPr>
          <a:lstStyle/>
          <a:p>
            <a:pPr algn="l" marL="274320" indent="-274320">
              <a:spcAft>
                <a:spcPts val="600"/>
              </a:spcAft>
              <a:buClr>
                <a:srgbClr val="F5A623"/>
              </a:buClr>
              <a:buChar char="•"/>
            </a:pPr>
            <a:r>
              <a:rPr sz="1600" b="0">
                <a:solidFill>
                  <a:srgbClr val="14202E"/>
                </a:solidFill>
                <a:latin typeface="Calibri"/>
              </a:rPr>
              <a:t>Hidden delay: 10 ms (default)</a:t>
            </a:r>
          </a:p>
          <a:p>
            <a:pPr algn="l" marL="274320" indent="-274320">
              <a:spcAft>
                <a:spcPts val="600"/>
              </a:spcAft>
              <a:buClr>
                <a:srgbClr val="F5A623"/>
              </a:buClr>
              <a:buChar char="•"/>
            </a:pPr>
            <a:r>
              <a:rPr sz="1600" b="0">
                <a:solidFill>
                  <a:srgbClr val="14202E"/>
                </a:solidFill>
                <a:latin typeface="Calibri"/>
              </a:rPr>
              <a:t>Ideal model: 2.23 N·m RMSE</a:t>
            </a:r>
          </a:p>
          <a:p>
            <a:pPr algn="l" marL="274320" indent="-274320">
              <a:spcAft>
                <a:spcPts val="600"/>
              </a:spcAft>
              <a:buClr>
                <a:srgbClr val="F5A623"/>
              </a:buClr>
              <a:buChar char="•"/>
            </a:pPr>
            <a:r>
              <a:rPr sz="1600" b="0">
                <a:solidFill>
                  <a:srgbClr val="14202E"/>
                </a:solidFill>
                <a:latin typeface="Calibri"/>
              </a:rPr>
              <a:t>Analytical model: 1.70 N·m RMSE</a:t>
            </a:r>
          </a:p>
          <a:p>
            <a:pPr algn="l" marL="274320" indent="-274320">
              <a:spcAft>
                <a:spcPts val="600"/>
              </a:spcAft>
              <a:buClr>
                <a:srgbClr val="F5A623"/>
              </a:buClr>
              <a:buChar char="•"/>
            </a:pPr>
            <a:r>
              <a:rPr sz="1600" b="0">
                <a:solidFill>
                  <a:srgbClr val="14202E"/>
                </a:solidFill>
                <a:latin typeface="Calibri"/>
              </a:rPr>
              <a:t>Learned actuator net: 0.18 N·m RMSE</a:t>
            </a:r>
          </a:p>
        </p:txBody>
      </p:sp>
      <p:sp>
        <p:nvSpPr>
          <p:cNvPr id="9" name="TextBox 8"/>
          <p:cNvSpPr txBox="1"/>
          <p:nvPr/>
        </p:nvSpPr>
        <p:spPr>
          <a:xfrm>
            <a:off x="8641080" y="4023360"/>
            <a:ext cx="3154680" cy="2011680"/>
          </a:xfrm>
          <a:prstGeom prst="rect">
            <a:avLst/>
          </a:prstGeom>
          <a:noFill/>
        </p:spPr>
        <p:txBody>
          <a:bodyPr wrap="square" anchor="t" lIns="73152" rIns="73152" tIns="36576" bIns="36576">
            <a:spAutoFit/>
          </a:bodyPr>
          <a:lstStyle/>
          <a:p>
            <a:pPr algn="l">
              <a:spcAft>
                <a:spcPts val="800"/>
              </a:spcAft>
            </a:pPr>
            <a:r>
              <a:rPr sz="1600" b="1">
                <a:solidFill>
                  <a:srgbClr val="E5484D"/>
                </a:solidFill>
                <a:latin typeface="Calibri"/>
              </a:rPr>
              <a:t>Toy model and synthetic logs. Not results from the paper.</a:t>
            </a:r>
          </a:p>
        </p:txBody>
      </p:sp>
      <p:sp>
        <p:nvSpPr>
          <p:cNvPr id="10" name="TextBox 9"/>
          <p:cNvSpPr txBox="1"/>
          <p:nvPr/>
        </p:nvSpPr>
        <p:spPr>
          <a:xfrm>
            <a:off x="457200" y="5669280"/>
            <a:ext cx="11277295" cy="1097280"/>
          </a:xfrm>
          <a:prstGeom prst="rect">
            <a:avLst/>
          </a:prstGeom>
          <a:noFill/>
        </p:spPr>
        <p:txBody>
          <a:bodyPr wrap="square" anchor="t" lIns="73152" rIns="73152" tIns="36576" bIns="36576">
            <a:spAutoFit/>
          </a:bodyPr>
          <a:lstStyle/>
          <a:p>
            <a:pPr algn="l">
              <a:spcAft>
                <a:spcPts val="800"/>
              </a:spcAft>
            </a:pPr>
            <a:r>
              <a:rPr sz="1600" b="0">
                <a:solidFill>
                  <a:srgbClr val="6B7785"/>
                </a:solidFill>
                <a:latin typeface="Calibri"/>
              </a:rPr>
              <a:t>TOY MODEL. A synthetic 'real' actuator with a series-elastic spring lag, a communication delay, friction and a torque limit is logged for 3 minutes. A small MLP learns torque from a short history of position error and velocity. None of these numbers come from the paper.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Demo: Error Grows with Hidden Delay</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5 / 14</a:t>
            </a:r>
          </a:p>
        </p:txBody>
      </p:sp>
      <p:sp>
        <p:nvSpPr>
          <p:cNvPr id="6" name="Rounded Rectangle 5"/>
          <p:cNvSpPr/>
          <p:nvPr/>
        </p:nvSpPr>
        <p:spPr>
          <a:xfrm>
            <a:off x="457200" y="1252728"/>
            <a:ext cx="2926080" cy="384048"/>
          </a:xfrm>
          <a:prstGeom prst="round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Hwangbo et al. (2019)</a:t>
            </a:r>
          </a:p>
        </p:txBody>
      </p:sp>
      <p:pic>
        <p:nvPicPr>
          <p:cNvPr id="7" name="Picture 6" descr="actuator_delay_sweep.png"/>
          <p:cNvPicPr>
            <a:picLocks noChangeAspect="1"/>
          </p:cNvPicPr>
          <p:nvPr/>
        </p:nvPicPr>
        <p:blipFill>
          <a:blip r:embed="rId2"/>
          <a:stretch>
            <a:fillRect/>
          </a:stretch>
        </p:blipFill>
        <p:spPr>
          <a:xfrm>
            <a:off x="1388012" y="1691639"/>
            <a:ext cx="4904935" cy="2926080"/>
          </a:xfrm>
          <a:prstGeom prst="rect">
            <a:avLst/>
          </a:prstGeom>
        </p:spPr>
      </p:pic>
      <p:sp>
        <p:nvSpPr>
          <p:cNvPr id="8" name="TextBox 7"/>
          <p:cNvSpPr txBox="1"/>
          <p:nvPr/>
        </p:nvSpPr>
        <p:spPr>
          <a:xfrm>
            <a:off x="7498079" y="1783080"/>
            <a:ext cx="4297680" cy="3566160"/>
          </a:xfrm>
          <a:prstGeom prst="rect">
            <a:avLst/>
          </a:prstGeom>
          <a:noFill/>
        </p:spPr>
        <p:txBody>
          <a:bodyPr wrap="square" anchor="t" lIns="73152" rIns="73152" tIns="36576" bIns="36576">
            <a:spAutoFit/>
          </a:bodyPr>
          <a:lstStyle/>
          <a:p>
            <a:pPr algn="l" marL="274320" indent="-274320">
              <a:spcAft>
                <a:spcPts val="800"/>
              </a:spcAft>
              <a:buClr>
                <a:srgbClr val="F5A623"/>
              </a:buClr>
              <a:buChar char="•"/>
            </a:pPr>
            <a:r>
              <a:rPr sz="1800" b="0">
                <a:solidFill>
                  <a:srgbClr val="14202E"/>
                </a:solidFill>
                <a:latin typeface="Calibri"/>
              </a:rPr>
              <a:t>Ideal model: 1.39 N·m at 0 ms -&gt; 3.09 N·m at 20 ms</a:t>
            </a:r>
          </a:p>
          <a:p>
            <a:pPr algn="l" marL="274320" indent="-274320">
              <a:spcAft>
                <a:spcPts val="800"/>
              </a:spcAft>
              <a:buClr>
                <a:srgbClr val="F5A623"/>
              </a:buClr>
              <a:buChar char="•"/>
            </a:pPr>
            <a:r>
              <a:rPr sz="1800" b="0">
                <a:solidFill>
                  <a:srgbClr val="14202E"/>
                </a:solidFill>
                <a:latin typeface="Calibri"/>
              </a:rPr>
              <a:t>Analytical model: 0.97 -&gt; 2.55 N·m</a:t>
            </a:r>
          </a:p>
          <a:p>
            <a:pPr algn="l" marL="274320" indent="-274320">
              <a:spcAft>
                <a:spcPts val="800"/>
              </a:spcAft>
              <a:buClr>
                <a:srgbClr val="F5A623"/>
              </a:buClr>
              <a:buChar char="•"/>
            </a:pPr>
            <a:r>
              <a:rPr sz="1800" b="0">
                <a:solidFill>
                  <a:srgbClr val="14202E"/>
                </a:solidFill>
                <a:latin typeface="Calibri"/>
              </a:rPr>
              <a:t>The learned net sees a short history, so it can absorb the delay.</a:t>
            </a:r>
          </a:p>
        </p:txBody>
      </p:sp>
      <p:sp>
        <p:nvSpPr>
          <p:cNvPr id="9" name="Rectangle 8"/>
          <p:cNvSpPr/>
          <p:nvPr/>
        </p:nvSpPr>
        <p:spPr>
          <a:xfrm>
            <a:off x="457200" y="4709160"/>
            <a:ext cx="11277295" cy="1920240"/>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709160"/>
            <a:ext cx="109728" cy="19202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782312"/>
            <a:ext cx="10957255" cy="411480"/>
          </a:xfrm>
          <a:prstGeom prst="rect">
            <a:avLst/>
          </a:prstGeom>
          <a:noFill/>
        </p:spPr>
        <p:txBody>
          <a:bodyPr wrap="square" anchor="t" lIns="73152" rIns="73152" tIns="36576" bIns="36576">
            <a:spAutoFit/>
          </a:bodyPr>
          <a:lstStyle/>
          <a:p>
            <a:pPr algn="l">
              <a:spcAft>
                <a:spcPts val="800"/>
              </a:spcAft>
            </a:pPr>
            <a:r>
              <a:rPr sz="2000" b="1">
                <a:solidFill>
                  <a:srgbClr val="0B1F3A"/>
                </a:solidFill>
                <a:latin typeface="Calibri"/>
              </a:rPr>
              <a:t>Why it matters for our dog</a:t>
            </a:r>
          </a:p>
        </p:txBody>
      </p:sp>
      <p:sp>
        <p:nvSpPr>
          <p:cNvPr id="12" name="TextBox 11"/>
          <p:cNvSpPr txBox="1"/>
          <p:nvPr/>
        </p:nvSpPr>
        <p:spPr>
          <a:xfrm>
            <a:off x="685800" y="5212080"/>
            <a:ext cx="10957255" cy="1353312"/>
          </a:xfrm>
          <a:prstGeom prst="rect">
            <a:avLst/>
          </a:prstGeom>
          <a:noFill/>
        </p:spPr>
        <p:txBody>
          <a:bodyPr wrap="square" anchor="t" lIns="73152" rIns="73152" tIns="36576" bIns="36576">
            <a:spAutoFit/>
          </a:bodyPr>
          <a:lstStyle/>
          <a:p>
            <a:pPr algn="l" marL="274320" indent="-274320">
              <a:spcAft>
                <a:spcPts val="800"/>
              </a:spcAft>
              <a:buClr>
                <a:srgbClr val="F5A623"/>
              </a:buClr>
              <a:buChar char="•"/>
            </a:pPr>
            <a:r>
              <a:rPr sz="1600" b="0">
                <a:solidFill>
                  <a:srgbClr val="14202E"/>
                </a:solidFill>
                <a:latin typeface="Calibri"/>
              </a:rPr>
              <a:t>A policy trained on an idealized Go2 could fail on the real dog, just like the ideal-actuator policies in the ablation.</a:t>
            </a:r>
          </a:p>
          <a:p>
            <a:pPr algn="l" marL="274320" indent="-274320">
              <a:spcAft>
                <a:spcPts val="800"/>
              </a:spcAft>
              <a:buClr>
                <a:srgbClr val="F5A623"/>
              </a:buClr>
              <a:buChar char="•"/>
            </a:pPr>
            <a:r>
              <a:rPr sz="1600" b="0">
                <a:solidFill>
                  <a:srgbClr val="14202E"/>
                </a:solidFill>
                <a:latin typeface="Calibri"/>
              </a:rPr>
              <a:t>We may need logged Go2 motor data (position, velocity, estimated torque from the SDK's LowState) to learn a model of its actuators.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200" b="1">
                <a:solidFill>
                  <a:srgbClr val="FFFFFF"/>
                </a:solidFill>
                <a:latin typeface="Calibri"/>
              </a:rPr>
              <a:t>Survey: The Toolbox for Crossing the Reality Gap</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6 / 14</a:t>
            </a:r>
          </a:p>
        </p:txBody>
      </p:sp>
      <p:sp>
        <p:nvSpPr>
          <p:cNvPr id="6" name="Rounded Rectangle 5"/>
          <p:cNvSpPr/>
          <p:nvPr/>
        </p:nvSpPr>
        <p:spPr>
          <a:xfrm>
            <a:off x="457200" y="1252728"/>
            <a:ext cx="2926080" cy="384048"/>
          </a:xfrm>
          <a:prstGeom prst="round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Gurram et al. (2024)</a:t>
            </a:r>
          </a:p>
        </p:txBody>
      </p:sp>
      <p:sp>
        <p:nvSpPr>
          <p:cNvPr id="7" name="TextBox 6"/>
          <p:cNvSpPr txBox="1"/>
          <p:nvPr/>
        </p:nvSpPr>
        <p:spPr>
          <a:xfrm>
            <a:off x="457200" y="1737360"/>
            <a:ext cx="11277295" cy="4937759"/>
          </a:xfrm>
          <a:prstGeom prst="rect">
            <a:avLst/>
          </a:prstGeom>
          <a:noFill/>
        </p:spPr>
        <p:txBody>
          <a:bodyPr wrap="square" anchor="t" lIns="73152" rIns="73152" tIns="36576" bIns="36576">
            <a:spAutoFit/>
          </a:bodyPr>
          <a:lstStyle/>
          <a:p>
            <a:pPr algn="l" marL="274320" indent="-274320">
              <a:spcAft>
                <a:spcPts val="700"/>
              </a:spcAft>
              <a:buClr>
                <a:srgbClr val="F5A623"/>
              </a:buClr>
              <a:buChar char="•"/>
            </a:pPr>
            <a:r>
              <a:rPr sz="1900" b="0">
                <a:solidFill>
                  <a:srgbClr val="14202E"/>
                </a:solidFill>
                <a:latin typeface="Calibri"/>
              </a:rPr>
              <a:t>Basic loop: state (orientation, velocities, joint angles) -&gt; policy -&gt; joint position targets -&gt; low-level PD controller -&gt; torque. Trained in Isaac Gym or RaiSim from a URDF.</a:t>
            </a:r>
          </a:p>
          <a:p>
            <a:pPr algn="l" marL="274320" indent="-274320">
              <a:spcAft>
                <a:spcPts val="700"/>
              </a:spcAft>
              <a:buClr>
                <a:srgbClr val="F5A623"/>
              </a:buClr>
              <a:buChar char="•"/>
            </a:pPr>
            <a:r>
              <a:rPr sz="1900" b="0">
                <a:solidFill>
                  <a:srgbClr val="14202E"/>
                </a:solidFill>
                <a:latin typeface="Calibri"/>
              </a:rPr>
              <a:t>Teacher-student (privileged learning): a teacher uses simulation-only info (contact forces, terrain); a student imitates it with real sensors only.</a:t>
            </a:r>
          </a:p>
          <a:p>
            <a:pPr algn="l" marL="274320" indent="-274320">
              <a:spcAft>
                <a:spcPts val="700"/>
              </a:spcAft>
              <a:buClr>
                <a:srgbClr val="F5A623"/>
              </a:buClr>
              <a:buChar char="•"/>
            </a:pPr>
            <a:r>
              <a:rPr sz="1900" b="0">
                <a:solidFill>
                  <a:srgbClr val="14202E"/>
                </a:solidFill>
                <a:latin typeface="Calibri"/>
              </a:rPr>
              <a:t>RMA (Rapid Motor Adaptation): estimates hidden environment properties from recent states and actions.</a:t>
            </a:r>
          </a:p>
          <a:p>
            <a:pPr algn="l" marL="274320" indent="-274320">
              <a:spcAft>
                <a:spcPts val="700"/>
              </a:spcAft>
              <a:buClr>
                <a:srgbClr val="F5A623"/>
              </a:buClr>
              <a:buChar char="•"/>
            </a:pPr>
            <a:r>
              <a:rPr sz="1900" b="0">
                <a:solidFill>
                  <a:srgbClr val="14202E"/>
                </a:solidFill>
                <a:latin typeface="Calibri"/>
              </a:rPr>
              <a:t>Curriculum learning and domain randomization of terrain, friction, motor strength and gains.</a:t>
            </a:r>
          </a:p>
          <a:p>
            <a:pPr algn="l" marL="274320" indent="-274320">
              <a:spcAft>
                <a:spcPts val="700"/>
              </a:spcAft>
              <a:buClr>
                <a:srgbClr val="F5A623"/>
              </a:buClr>
              <a:buChar char="•"/>
            </a:pPr>
            <a:r>
              <a:rPr sz="1900" b="0">
                <a:solidFill>
                  <a:srgbClr val="14202E"/>
                </a:solidFill>
                <a:latin typeface="Calibri"/>
              </a:rPr>
              <a:t>Gait-bound (built-in gaits like trotting) vs. gait-free (policy finds its own gait).</a:t>
            </a:r>
          </a:p>
          <a:p>
            <a:pPr algn="l" marL="274320" indent="-274320">
              <a:spcAft>
                <a:spcPts val="700"/>
              </a:spcAft>
              <a:buClr>
                <a:srgbClr val="F5A623"/>
              </a:buClr>
              <a:buChar char="•"/>
            </a:pPr>
            <a:r>
              <a:rPr sz="1900" b="0">
                <a:solidFill>
                  <a:srgbClr val="14202E"/>
                </a:solidFill>
                <a:latin typeface="Calibri"/>
              </a:rPr>
              <a:t>Reward design and policy-gradient methods such as PPO; most of the 13 compared works use PPO and Unitree robots.</a:t>
            </a:r>
          </a:p>
          <a:p>
            <a:pPr algn="l" marL="274320" indent="-274320">
              <a:spcAft>
                <a:spcPts val="700"/>
              </a:spcAft>
              <a:buClr>
                <a:srgbClr val="F5A623"/>
              </a:buClr>
              <a:buChar char="•"/>
            </a:pPr>
            <a:r>
              <a:rPr sz="1900" b="0">
                <a:solidFill>
                  <a:srgbClr val="14202E"/>
                </a:solidFill>
                <a:latin typeface="Calibri"/>
              </a:rPr>
              <a:t>Future directions: exteroceptive sensing, model-based + model-free, online learning on the real robot.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Demo: Domain Randomization (Toy Cart)</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7 / 14</a:t>
            </a:r>
          </a:p>
        </p:txBody>
      </p:sp>
      <p:sp>
        <p:nvSpPr>
          <p:cNvPr id="6" name="Rounded Rectangle 5"/>
          <p:cNvSpPr/>
          <p:nvPr/>
        </p:nvSpPr>
        <p:spPr>
          <a:xfrm>
            <a:off x="457200" y="1252728"/>
            <a:ext cx="2926080" cy="384048"/>
          </a:xfrm>
          <a:prstGeom prst="round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Gurram et al. (2024)</a:t>
            </a:r>
          </a:p>
        </p:txBody>
      </p:sp>
      <p:pic>
        <p:nvPicPr>
          <p:cNvPr id="7" name="Picture 6" descr="dr_success_rates.png"/>
          <p:cNvPicPr>
            <a:picLocks noChangeAspect="1"/>
          </p:cNvPicPr>
          <p:nvPr/>
        </p:nvPicPr>
        <p:blipFill>
          <a:blip r:embed="rId2"/>
          <a:stretch>
            <a:fillRect/>
          </a:stretch>
        </p:blipFill>
        <p:spPr>
          <a:xfrm>
            <a:off x="1215273" y="1691639"/>
            <a:ext cx="6347692" cy="2880360"/>
          </a:xfrm>
          <a:prstGeom prst="rect">
            <a:avLst/>
          </a:prstGeom>
        </p:spPr>
      </p:pic>
      <p:sp>
        <p:nvSpPr>
          <p:cNvPr id="8" name="TextBox 7"/>
          <p:cNvSpPr txBox="1"/>
          <p:nvPr/>
        </p:nvSpPr>
        <p:spPr>
          <a:xfrm>
            <a:off x="8503920" y="1783080"/>
            <a:ext cx="3291840" cy="3291840"/>
          </a:xfrm>
          <a:prstGeom prst="rect">
            <a:avLst/>
          </a:prstGeom>
          <a:noFill/>
        </p:spPr>
        <p:txBody>
          <a:bodyPr wrap="square" anchor="t" lIns="73152" rIns="73152" tIns="36576" bIns="36576">
            <a:spAutoFit/>
          </a:bodyPr>
          <a:lstStyle/>
          <a:p>
            <a:pPr algn="l" marL="274320" indent="-274320">
              <a:spcAft>
                <a:spcPts val="800"/>
              </a:spcAft>
              <a:buClr>
                <a:srgbClr val="F5A623"/>
              </a:buClr>
              <a:buChar char="•"/>
            </a:pPr>
            <a:r>
              <a:rPr sz="1800" b="0">
                <a:solidFill>
                  <a:srgbClr val="14202E"/>
                </a:solidFill>
                <a:latin typeface="Calibri"/>
              </a:rPr>
              <a:t>Random mix: fixed 58% vs randomized 91%</a:t>
            </a:r>
          </a:p>
          <a:p>
            <a:pPr algn="l" marL="274320" indent="-274320">
              <a:spcAft>
                <a:spcPts val="800"/>
              </a:spcAft>
              <a:buClr>
                <a:srgbClr val="F5A623"/>
              </a:buClr>
              <a:buChar char="•"/>
            </a:pPr>
            <a:r>
              <a:rPr sz="1800" b="0">
                <a:solidFill>
                  <a:srgbClr val="14202E"/>
                </a:solidFill>
                <a:latin typeface="Calibri"/>
              </a:rPr>
              <a:t>Carpet: fixed 34% vs randomized 100%</a:t>
            </a:r>
          </a:p>
          <a:p>
            <a:pPr algn="l" marL="274320" indent="-274320">
              <a:spcAft>
                <a:spcPts val="800"/>
              </a:spcAft>
              <a:buClr>
                <a:srgbClr val="F5A623"/>
              </a:buClr>
              <a:buChar char="•"/>
            </a:pPr>
            <a:r>
              <a:rPr sz="1800" b="0">
                <a:solidFill>
                  <a:srgbClr val="14202E"/>
                </a:solidFill>
                <a:latin typeface="Calibri"/>
              </a:rPr>
              <a:t>Simulated toy results only.</a:t>
            </a:r>
          </a:p>
        </p:txBody>
      </p:sp>
      <p:sp>
        <p:nvSpPr>
          <p:cNvPr id="9" name="Rectangle 8"/>
          <p:cNvSpPr/>
          <p:nvPr/>
        </p:nvSpPr>
        <p:spPr>
          <a:xfrm>
            <a:off x="457200" y="4663440"/>
            <a:ext cx="11277295" cy="2011680"/>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663440"/>
            <a:ext cx="109728" cy="20116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736592"/>
            <a:ext cx="10957255" cy="411480"/>
          </a:xfrm>
          <a:prstGeom prst="rect">
            <a:avLst/>
          </a:prstGeom>
          <a:noFill/>
        </p:spPr>
        <p:txBody>
          <a:bodyPr wrap="square" anchor="t" lIns="73152" rIns="73152" tIns="36576" bIns="36576">
            <a:spAutoFit/>
          </a:bodyPr>
          <a:lstStyle/>
          <a:p>
            <a:pPr algn="l">
              <a:spcAft>
                <a:spcPts val="800"/>
              </a:spcAft>
            </a:pPr>
            <a:r>
              <a:rPr sz="2000" b="1">
                <a:solidFill>
                  <a:srgbClr val="0B1F3A"/>
                </a:solidFill>
                <a:latin typeface="Calibri"/>
              </a:rPr>
              <a:t>Why it matters for our dog</a:t>
            </a:r>
          </a:p>
        </p:txBody>
      </p:sp>
      <p:sp>
        <p:nvSpPr>
          <p:cNvPr id="12" name="TextBox 11"/>
          <p:cNvSpPr txBox="1"/>
          <p:nvPr/>
        </p:nvSpPr>
        <p:spPr>
          <a:xfrm>
            <a:off x="685800" y="5166359"/>
            <a:ext cx="10957255" cy="1444752"/>
          </a:xfrm>
          <a:prstGeom prst="rect">
            <a:avLst/>
          </a:prstGeom>
          <a:noFill/>
        </p:spPr>
        <p:txBody>
          <a:bodyPr wrap="square" anchor="t" lIns="73152" rIns="73152" tIns="36576" bIns="36576">
            <a:spAutoFit/>
          </a:bodyPr>
          <a:lstStyle/>
          <a:p>
            <a:pPr algn="l" marL="274320" indent="-274320">
              <a:spcAft>
                <a:spcPts val="800"/>
              </a:spcAft>
              <a:buClr>
                <a:srgbClr val="F5A623"/>
              </a:buClr>
              <a:buChar char="•"/>
            </a:pPr>
            <a:r>
              <a:rPr sz="1800" b="0">
                <a:solidFill>
                  <a:srgbClr val="14202E"/>
                </a:solidFill>
                <a:latin typeface="Calibri"/>
              </a:rPr>
              <a:t>Crime scenes have unknown floors: blood is slippery, carpet adds friction, debris shifts the load, so the locomotion policy must be trained with randomization.</a:t>
            </a:r>
          </a:p>
          <a:p>
            <a:pPr algn="l" marL="274320" indent="-274320">
              <a:spcAft>
                <a:spcPts val="800"/>
              </a:spcAft>
              <a:buClr>
                <a:srgbClr val="F5A623"/>
              </a:buClr>
              <a:buChar char="•"/>
            </a:pPr>
            <a:r>
              <a:rPr sz="1800" b="0">
                <a:solidFill>
                  <a:srgbClr val="14202E"/>
                </a:solidFill>
                <a:latin typeface="Calibri"/>
              </a:rPr>
              <a:t>The survey's call for exteroceptive sensing is exactly what our stain-reading camera adds.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200" b="1">
                <a:solidFill>
                  <a:srgbClr val="FFFFFF"/>
                </a:solidFill>
                <a:latin typeface="Calibri"/>
              </a:rPr>
              <a:t>Kine2Go: A Ready-Made Motion Library for the Go2</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8 / 14</a:t>
            </a:r>
          </a:p>
        </p:txBody>
      </p:sp>
      <p:sp>
        <p:nvSpPr>
          <p:cNvPr id="6" name="Rounded Rectangle 5"/>
          <p:cNvSpPr/>
          <p:nvPr/>
        </p:nvSpPr>
        <p:spPr>
          <a:xfrm>
            <a:off x="457200" y="1252728"/>
            <a:ext cx="2926080" cy="384048"/>
          </a:xfrm>
          <a:prstGeom prst="roundRect">
            <a:avLst/>
          </a:prstGeom>
          <a:solidFill>
            <a:srgbClr val="8E6CE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Kine2Go dataset</a:t>
            </a:r>
          </a:p>
        </p:txBody>
      </p:sp>
      <p:sp>
        <p:nvSpPr>
          <p:cNvPr id="7" name="TextBox 6"/>
          <p:cNvSpPr txBox="1"/>
          <p:nvPr/>
        </p:nvSpPr>
        <p:spPr>
          <a:xfrm>
            <a:off x="457200" y="1737360"/>
            <a:ext cx="11277295" cy="4937759"/>
          </a:xfrm>
          <a:prstGeom prst="rect">
            <a:avLst/>
          </a:prstGeom>
          <a:noFill/>
        </p:spPr>
        <p:txBody>
          <a:bodyPr wrap="square" anchor="t" lIns="73152" rIns="73152" tIns="36576" bIns="36576">
            <a:spAutoFit/>
          </a:bodyPr>
          <a:lstStyle/>
          <a:p>
            <a:pPr algn="l" marL="274320" indent="-274320">
              <a:spcAft>
                <a:spcPts val="700"/>
              </a:spcAft>
              <a:buClr>
                <a:srgbClr val="F5A623"/>
              </a:buClr>
              <a:buChar char="•"/>
            </a:pPr>
            <a:r>
              <a:rPr sz="1900" b="0">
                <a:solidFill>
                  <a:srgbClr val="14202E"/>
                </a:solidFill>
                <a:latin typeface="Calibri"/>
              </a:rPr>
              <a:t>40 reference clips: 15 dog motion-capture, 7 synthetic dog (AI4Animation), 12 horse (Vienna Horse Data Collection), 6 from the Solo8 robot.</a:t>
            </a:r>
          </a:p>
          <a:p>
            <a:pPr algn="l" marL="274320" indent="-274320">
              <a:spcAft>
                <a:spcPts val="700"/>
              </a:spcAft>
              <a:buClr>
                <a:srgbClr val="F5A623"/>
              </a:buClr>
              <a:buChar char="•"/>
            </a:pPr>
            <a:r>
              <a:rPr sz="1900" b="0">
                <a:solidFill>
                  <a:srgbClr val="14202E"/>
                </a:solidFill>
                <a:latin typeface="Calibri"/>
              </a:rPr>
              <a:t>Each clip retargeted to the Go2's 12 joints; a PPO imitation policy per clip, trained in the Genesis simulator with rsl_rl.</a:t>
            </a:r>
          </a:p>
          <a:p>
            <a:pPr algn="l" marL="274320" indent="-274320">
              <a:spcAft>
                <a:spcPts val="700"/>
              </a:spcAft>
              <a:buClr>
                <a:srgbClr val="F5A623"/>
              </a:buClr>
              <a:buChar char="•"/>
            </a:pPr>
            <a:r>
              <a:rPr sz="1900" b="0">
                <a:solidFill>
                  <a:srgbClr val="14202E"/>
                </a:solidFill>
                <a:latin typeface="Calibri"/>
              </a:rPr>
              <a:t>20 perturbed rollouts per clip = 800 rollouts, logged at 60 Hz.</a:t>
            </a:r>
          </a:p>
          <a:p>
            <a:pPr algn="l" marL="274320" indent="-274320">
              <a:spcAft>
                <a:spcPts val="700"/>
              </a:spcAft>
              <a:buClr>
                <a:srgbClr val="F5A623"/>
              </a:buClr>
              <a:buChar char="•"/>
            </a:pPr>
            <a:r>
              <a:rPr sz="1900" b="0">
                <a:solidFill>
                  <a:srgbClr val="14202E"/>
                </a:solidFill>
                <a:latin typeface="Calibri"/>
              </a:rPr>
              <a:t>Logs: joint positions and velocities, base position, orientation quaternion, linear and angular velocity, the 12 actions, link poses (metres and radians). motion.npy has shape (T, 61).</a:t>
            </a:r>
          </a:p>
          <a:p>
            <a:pPr algn="l" marL="274320" indent="-274320">
              <a:spcAft>
                <a:spcPts val="700"/>
              </a:spcAft>
              <a:buClr>
                <a:srgbClr val="F5A623"/>
              </a:buClr>
              <a:buChar char="•"/>
            </a:pPr>
            <a:r>
              <a:rPr sz="1900" b="0">
                <a:solidFill>
                  <a:srgbClr val="14202E"/>
                </a:solidFill>
                <a:latin typeface="Calibri"/>
              </a:rPr>
              <a:t>About 31 GB; built for behavioral foundation models, with behavioral cloning and retargeting evaluation as secondary uses.</a:t>
            </a:r>
          </a:p>
          <a:p>
            <a:pPr algn="l" marL="274320" indent="-274320">
              <a:spcAft>
                <a:spcPts val="700"/>
              </a:spcAft>
              <a:buClr>
                <a:srgbClr val="F5A623"/>
              </a:buClr>
              <a:buChar char="•"/>
            </a:pPr>
            <a:r>
              <a:rPr sz="1900" b="0">
                <a:solidFill>
                  <a:srgbClr val="14202E"/>
                </a:solidFill>
                <a:latin typeface="Calibri"/>
              </a:rPr>
              <a:t>Simulation only: it does not close the sim-to-real gap by itself.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Demo: Inside One Motion File</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9 / 14</a:t>
            </a:r>
          </a:p>
        </p:txBody>
      </p:sp>
      <p:sp>
        <p:nvSpPr>
          <p:cNvPr id="6" name="Rounded Rectangle 5"/>
          <p:cNvSpPr/>
          <p:nvPr/>
        </p:nvSpPr>
        <p:spPr>
          <a:xfrm>
            <a:off x="457200" y="1252728"/>
            <a:ext cx="2926080" cy="384048"/>
          </a:xfrm>
          <a:prstGeom prst="roundRect">
            <a:avLst/>
          </a:prstGeom>
          <a:solidFill>
            <a:srgbClr val="8E6CE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Kine2Go dataset</a:t>
            </a:r>
          </a:p>
        </p:txBody>
      </p:sp>
      <p:sp>
        <p:nvSpPr>
          <p:cNvPr id="7" name="TextBox 6"/>
          <p:cNvSpPr txBox="1"/>
          <p:nvPr/>
        </p:nvSpPr>
        <p:spPr>
          <a:xfrm>
            <a:off x="3566160" y="1234439"/>
            <a:ext cx="8229600" cy="457200"/>
          </a:xfrm>
          <a:prstGeom prst="rect">
            <a:avLst/>
          </a:prstGeom>
          <a:noFill/>
        </p:spPr>
        <p:txBody>
          <a:bodyPr wrap="square" anchor="t" lIns="73152" rIns="73152" tIns="36576" bIns="36576">
            <a:spAutoFit/>
          </a:bodyPr>
          <a:lstStyle/>
          <a:p>
            <a:pPr algn="l">
              <a:spcAft>
                <a:spcPts val="800"/>
              </a:spcAft>
            </a:pPr>
            <a:r>
              <a:rPr sz="1600" b="1">
                <a:solidFill>
                  <a:srgbClr val="E5484D"/>
                </a:solidFill>
                <a:latin typeface="Calibri"/>
              </a:rPr>
              <a:t>SYNTHETIC fallback sample shown (download failed) - not Kine2Go data</a:t>
            </a:r>
          </a:p>
        </p:txBody>
      </p:sp>
      <p:pic>
        <p:nvPicPr>
          <p:cNvPr id="8" name="Picture 7" descr="kine2go_joints.png"/>
          <p:cNvPicPr>
            <a:picLocks noChangeAspect="1"/>
          </p:cNvPicPr>
          <p:nvPr/>
        </p:nvPicPr>
        <p:blipFill>
          <a:blip r:embed="rId2"/>
          <a:stretch>
            <a:fillRect/>
          </a:stretch>
        </p:blipFill>
        <p:spPr>
          <a:xfrm>
            <a:off x="1211389" y="1737360"/>
            <a:ext cx="4069461" cy="2514599"/>
          </a:xfrm>
          <a:prstGeom prst="rect">
            <a:avLst/>
          </a:prstGeom>
        </p:spPr>
      </p:pic>
      <p:pic>
        <p:nvPicPr>
          <p:cNvPr id="9" name="Picture 8" descr="kine2go_feet.png"/>
          <p:cNvPicPr>
            <a:picLocks noChangeAspect="1"/>
          </p:cNvPicPr>
          <p:nvPr/>
        </p:nvPicPr>
        <p:blipFill>
          <a:blip r:embed="rId3"/>
          <a:stretch>
            <a:fillRect/>
          </a:stretch>
        </p:blipFill>
        <p:spPr>
          <a:xfrm>
            <a:off x="6942772" y="1737360"/>
            <a:ext cx="4128135" cy="2514600"/>
          </a:xfrm>
          <a:prstGeom prst="rect">
            <a:avLst/>
          </a:prstGeom>
        </p:spPr>
      </p:pic>
      <p:pic>
        <p:nvPicPr>
          <p:cNvPr id="10" name="Picture 9" descr="kine2go_footfall.png"/>
          <p:cNvPicPr>
            <a:picLocks noChangeAspect="1"/>
          </p:cNvPicPr>
          <p:nvPr/>
        </p:nvPicPr>
        <p:blipFill>
          <a:blip r:embed="rId4"/>
          <a:stretch>
            <a:fillRect/>
          </a:stretch>
        </p:blipFill>
        <p:spPr>
          <a:xfrm>
            <a:off x="1207992" y="4297680"/>
            <a:ext cx="4076254" cy="2514600"/>
          </a:xfrm>
          <a:prstGeom prst="rect">
            <a:avLst/>
          </a:prstGeom>
        </p:spPr>
      </p:pic>
      <p:sp>
        <p:nvSpPr>
          <p:cNvPr id="11" name="Rectangle 10"/>
          <p:cNvSpPr/>
          <p:nvPr/>
        </p:nvSpPr>
        <p:spPr>
          <a:xfrm>
            <a:off x="6309359" y="4389120"/>
            <a:ext cx="5486400" cy="2423160"/>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59" y="4389120"/>
            <a:ext cx="109728" cy="24231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4462272"/>
            <a:ext cx="5166360" cy="411480"/>
          </a:xfrm>
          <a:prstGeom prst="rect">
            <a:avLst/>
          </a:prstGeom>
          <a:noFill/>
        </p:spPr>
        <p:txBody>
          <a:bodyPr wrap="square" anchor="t" lIns="73152" rIns="73152" tIns="36576" bIns="36576">
            <a:spAutoFit/>
          </a:bodyPr>
          <a:lstStyle/>
          <a:p>
            <a:pPr algn="l">
              <a:spcAft>
                <a:spcPts val="800"/>
              </a:spcAft>
            </a:pPr>
            <a:r>
              <a:rPr sz="2000" b="1">
                <a:solidFill>
                  <a:srgbClr val="0B1F3A"/>
                </a:solidFill>
                <a:latin typeface="Calibri"/>
              </a:rPr>
              <a:t>Why it matters for our dog</a:t>
            </a:r>
          </a:p>
        </p:txBody>
      </p:sp>
      <p:sp>
        <p:nvSpPr>
          <p:cNvPr id="14" name="TextBox 13"/>
          <p:cNvSpPr txBox="1"/>
          <p:nvPr/>
        </p:nvSpPr>
        <p:spPr>
          <a:xfrm>
            <a:off x="6537959" y="4892040"/>
            <a:ext cx="5166360" cy="1856231"/>
          </a:xfrm>
          <a:prstGeom prst="rect">
            <a:avLst/>
          </a:prstGeom>
          <a:noFill/>
        </p:spPr>
        <p:txBody>
          <a:bodyPr wrap="square" anchor="t" lIns="73152" rIns="73152" tIns="36576" bIns="36576">
            <a:spAutoFit/>
          </a:bodyPr>
          <a:lstStyle/>
          <a:p>
            <a:pPr algn="l" marL="274320" indent="-274320">
              <a:spcAft>
                <a:spcPts val="800"/>
              </a:spcAft>
              <a:buClr>
                <a:srgbClr val="F5A623"/>
              </a:buClr>
              <a:buChar char="•"/>
            </a:pPr>
            <a:r>
              <a:rPr sz="1600" b="0">
                <a:solidFill>
                  <a:srgbClr val="14202E"/>
                </a:solidFill>
                <a:latin typeface="Calibri"/>
              </a:rPr>
              <a:t>Slow, careful search gaits and sniffing-style motions could be imitated from the dog clips instead of being designed by hand.</a:t>
            </a:r>
          </a:p>
          <a:p>
            <a:pPr algn="l" marL="274320" indent="-274320">
              <a:spcAft>
                <a:spcPts val="800"/>
              </a:spcAft>
              <a:buClr>
                <a:srgbClr val="F5A623"/>
              </a:buClr>
              <a:buChar char="•"/>
            </a:pPr>
            <a:r>
              <a:rPr sz="1600" b="0">
                <a:solidFill>
                  <a:srgbClr val="14202E"/>
                </a:solidFill>
                <a:latin typeface="Calibri"/>
              </a:rPr>
              <a:t>But it is simulation data, so it still needs the Slide 3 techniques (randomization, adaptation) before running on a real Go2.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200" b="1">
                <a:solidFill>
                  <a:srgbClr val="FFFFFF"/>
                </a:solidFill>
                <a:latin typeface="Calibri"/>
              </a:rPr>
              <a:t>Unitree SDK: Where the Policy Meets the Real Dog</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10 / 14</a:t>
            </a:r>
          </a:p>
        </p:txBody>
      </p:sp>
      <p:sp>
        <p:nvSpPr>
          <p:cNvPr id="6" name="Rounded Rectangle 5"/>
          <p:cNvSpPr/>
          <p:nvPr/>
        </p:nvSpPr>
        <p:spPr>
          <a:xfrm>
            <a:off x="457200" y="1252728"/>
            <a:ext cx="2926080" cy="384048"/>
          </a:xfrm>
          <a:prstGeom prst="round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unitree_sdk2_python</a:t>
            </a:r>
          </a:p>
        </p:txBody>
      </p:sp>
      <p:sp>
        <p:nvSpPr>
          <p:cNvPr id="7" name="TextBox 6"/>
          <p:cNvSpPr txBox="1"/>
          <p:nvPr/>
        </p:nvSpPr>
        <p:spPr>
          <a:xfrm>
            <a:off x="457200" y="1737360"/>
            <a:ext cx="11277295" cy="4937759"/>
          </a:xfrm>
          <a:prstGeom prst="rect">
            <a:avLst/>
          </a:prstGeom>
          <a:noFill/>
        </p:spPr>
        <p:txBody>
          <a:bodyPr wrap="square" anchor="t" lIns="73152" rIns="73152" tIns="36576" bIns="36576">
            <a:spAutoFit/>
          </a:bodyPr>
          <a:lstStyle/>
          <a:p>
            <a:pPr algn="l" marL="274320" indent="-274320">
              <a:spcAft>
                <a:spcPts val="700"/>
              </a:spcAft>
              <a:buClr>
                <a:srgbClr val="F5A623"/>
              </a:buClr>
              <a:buChar char="•"/>
            </a:pPr>
            <a:r>
              <a:rPr sz="1900" b="0">
                <a:solidFill>
                  <a:srgbClr val="14202E"/>
                </a:solidFill>
                <a:latin typeface="Calibri"/>
              </a:rPr>
              <a:t>Official Python interface; DDS (CycloneDDS) publish/subscribe on named topics over Ethernet.</a:t>
            </a:r>
          </a:p>
          <a:p>
            <a:pPr algn="l" marL="274320" indent="-274320">
              <a:spcAft>
                <a:spcPts val="700"/>
              </a:spcAft>
              <a:buClr>
                <a:srgbClr val="F5A623"/>
              </a:buClr>
              <a:buChar char="•"/>
            </a:pPr>
            <a:r>
              <a:rPr sz="1900" b="0">
                <a:solidFill>
                  <a:srgbClr val="14202E"/>
                </a:solidFill>
                <a:latin typeface="Calibri"/>
              </a:rPr>
              <a:t>High level: SportClient with StandUp, BalanceStand, RecoveryStand and Move(vx, vy, vyaw) for Unitree's own walking controller.</a:t>
            </a:r>
          </a:p>
          <a:p>
            <a:pPr algn="l" marL="274320" indent="-274320">
              <a:spcAft>
                <a:spcPts val="700"/>
              </a:spcAft>
              <a:buClr>
                <a:srgbClr val="F5A623"/>
              </a:buClr>
              <a:buChar char="•"/>
            </a:pPr>
            <a:r>
              <a:rPr sz="1900" b="0">
                <a:solidFill>
                  <a:srgbClr val="14202E"/>
                </a:solidFill>
                <a:latin typeface="Calibri"/>
              </a:rPr>
              <a:t>Low level: subscribe to LowState (IMU quaternion, gyroscope, accelerometer, roll/pitch/yaw; per-motor position, velocity, estimated torque, temperature; foot forces; battery).</a:t>
            </a:r>
          </a:p>
          <a:p>
            <a:pPr algn="l" marL="274320" indent="-274320">
              <a:spcAft>
                <a:spcPts val="700"/>
              </a:spcAft>
              <a:buClr>
                <a:srgbClr val="F5A623"/>
              </a:buClr>
              <a:buChar char="•"/>
            </a:pPr>
            <a:r>
              <a:rPr sz="1900" b="0">
                <a:solidFill>
                  <a:srgbClr val="14202E"/>
                </a:solidFill>
                <a:latin typeface="Calibri"/>
              </a:rPr>
              <a:t>Publish LowCmd: per-motor target position q, target velocity dq, feed-forward torque tau, gains kp, kd.</a:t>
            </a:r>
          </a:p>
          <a:p>
            <a:pPr algn="l" marL="274320" indent="-274320">
              <a:spcAft>
                <a:spcPts val="700"/>
              </a:spcAft>
              <a:buClr>
                <a:srgbClr val="F5A623"/>
              </a:buClr>
              <a:buChar char="•"/>
            </a:pPr>
            <a:r>
              <a:rPr sz="1900" b="0">
                <a:solidFill>
                  <a:srgbClr val="14202E"/>
                </a:solidFill>
                <a:latin typeface="Calibri"/>
              </a:rPr>
              <a:t>Turn sport mode off first (MotionSwitcherClient) so two controllers don't fight; the Go2 stand example sends commands every 2 ms.</a:t>
            </a:r>
          </a:p>
          <a:p>
            <a:pPr algn="l" marL="274320" indent="-274320">
              <a:spcAft>
                <a:spcPts val="700"/>
              </a:spcAft>
              <a:buClr>
                <a:srgbClr val="F5A623"/>
              </a:buClr>
              <a:buChar char="•"/>
            </a:pPr>
            <a:r>
              <a:rPr sz="1900" b="0">
                <a:solidFill>
                  <a:srgbClr val="14202E"/>
                </a:solidFill>
                <a:latin typeface="Calibri"/>
              </a:rPr>
              <a:t>Safety steps: clear the area, use low gains, switch off the built-in controller.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200" b="1">
                <a:solidFill>
                  <a:srgbClr val="FFFFFF"/>
                </a:solidFill>
                <a:latin typeface="Calibri"/>
              </a:rPr>
              <a:t>Demo: Mock SDK Policy Loop + Investigation</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11 / 14</a:t>
            </a:r>
          </a:p>
        </p:txBody>
      </p:sp>
      <p:sp>
        <p:nvSpPr>
          <p:cNvPr id="6" name="Rounded Rectangle 5"/>
          <p:cNvSpPr/>
          <p:nvPr/>
        </p:nvSpPr>
        <p:spPr>
          <a:xfrm>
            <a:off x="457200" y="1252728"/>
            <a:ext cx="2926080" cy="384048"/>
          </a:xfrm>
          <a:prstGeom prst="round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600" b="1">
                <a:solidFill>
                  <a:srgbClr val="FFFFFF"/>
                </a:solidFill>
                <a:latin typeface="Calibri"/>
              </a:rPr>
              <a:t>unitree_sdk2_python</a:t>
            </a:r>
          </a:p>
        </p:txBody>
      </p:sp>
      <p:sp>
        <p:nvSpPr>
          <p:cNvPr id="7" name="TextBox 6"/>
          <p:cNvSpPr txBox="1"/>
          <p:nvPr/>
        </p:nvSpPr>
        <p:spPr>
          <a:xfrm>
            <a:off x="3566160" y="1234439"/>
            <a:ext cx="8229600" cy="457200"/>
          </a:xfrm>
          <a:prstGeom prst="rect">
            <a:avLst/>
          </a:prstGeom>
          <a:noFill/>
        </p:spPr>
        <p:txBody>
          <a:bodyPr wrap="square" anchor="t" lIns="73152" rIns="73152" tIns="36576" bIns="36576">
            <a:spAutoFit/>
          </a:bodyPr>
          <a:lstStyle/>
          <a:p>
            <a:pPr algn="l">
              <a:spcAft>
                <a:spcPts val="800"/>
              </a:spcAft>
            </a:pPr>
            <a:r>
              <a:rPr sz="1600" b="1">
                <a:solidFill>
                  <a:srgbClr val="E5484D"/>
                </a:solidFill>
                <a:latin typeface="Calibri"/>
              </a:rPr>
              <a:t>MOCK SDK - no hardware, no network; random untrained network</a:t>
            </a:r>
          </a:p>
        </p:txBody>
      </p:sp>
      <p:pic>
        <p:nvPicPr>
          <p:cNvPr id="8" name="Picture 7" descr="sdk_policy_loop.png"/>
          <p:cNvPicPr>
            <a:picLocks noChangeAspect="1"/>
          </p:cNvPicPr>
          <p:nvPr/>
        </p:nvPicPr>
        <p:blipFill>
          <a:blip r:embed="rId2"/>
          <a:stretch>
            <a:fillRect/>
          </a:stretch>
        </p:blipFill>
        <p:spPr>
          <a:xfrm>
            <a:off x="457200" y="1796922"/>
            <a:ext cx="6949440" cy="2806955"/>
          </a:xfrm>
          <a:prstGeom prst="rect">
            <a:avLst/>
          </a:prstGeom>
        </p:spPr>
      </p:pic>
      <p:pic>
        <p:nvPicPr>
          <p:cNvPr id="9" name="Picture 8" descr="sdk_investigation.png"/>
          <p:cNvPicPr>
            <a:picLocks noChangeAspect="1"/>
          </p:cNvPicPr>
          <p:nvPr/>
        </p:nvPicPr>
        <p:blipFill>
          <a:blip r:embed="rId3"/>
          <a:stretch>
            <a:fillRect/>
          </a:stretch>
        </p:blipFill>
        <p:spPr>
          <a:xfrm>
            <a:off x="8103993" y="1691639"/>
            <a:ext cx="3177292" cy="3017520"/>
          </a:xfrm>
          <a:prstGeom prst="rect">
            <a:avLst/>
          </a:prstGeom>
        </p:spPr>
      </p:pic>
      <p:sp>
        <p:nvSpPr>
          <p:cNvPr id="10" name="Rectangle 9"/>
          <p:cNvSpPr/>
          <p:nvPr/>
        </p:nvSpPr>
        <p:spPr>
          <a:xfrm>
            <a:off x="457200" y="4754880"/>
            <a:ext cx="11277295" cy="1920240"/>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754880"/>
            <a:ext cx="109728" cy="19202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828032"/>
            <a:ext cx="10957255" cy="411480"/>
          </a:xfrm>
          <a:prstGeom prst="rect">
            <a:avLst/>
          </a:prstGeom>
          <a:noFill/>
        </p:spPr>
        <p:txBody>
          <a:bodyPr wrap="square" anchor="t" lIns="73152" rIns="73152" tIns="36576" bIns="36576">
            <a:spAutoFit/>
          </a:bodyPr>
          <a:lstStyle/>
          <a:p>
            <a:pPr algn="l">
              <a:spcAft>
                <a:spcPts val="800"/>
              </a:spcAft>
            </a:pPr>
            <a:r>
              <a:rPr sz="2000" b="1">
                <a:solidFill>
                  <a:srgbClr val="0B1F3A"/>
                </a:solidFill>
                <a:latin typeface="Calibri"/>
              </a:rPr>
              <a:t>Why it matters for our dog</a:t>
            </a:r>
          </a:p>
        </p:txBody>
      </p:sp>
      <p:sp>
        <p:nvSpPr>
          <p:cNvPr id="13" name="TextBox 12"/>
          <p:cNvSpPr txBox="1"/>
          <p:nvPr/>
        </p:nvSpPr>
        <p:spPr>
          <a:xfrm>
            <a:off x="685800" y="5257800"/>
            <a:ext cx="10957255" cy="1353312"/>
          </a:xfrm>
          <a:prstGeom prst="rect">
            <a:avLst/>
          </a:prstGeom>
          <a:noFill/>
        </p:spPr>
        <p:txBody>
          <a:bodyPr wrap="square" anchor="t" lIns="73152" rIns="73152" tIns="36576" bIns="36576">
            <a:spAutoFit/>
          </a:bodyPr>
          <a:lstStyle/>
          <a:p>
            <a:pPr algn="l" marL="274320" indent="-274320">
              <a:spcAft>
                <a:spcPts val="800"/>
              </a:spcAft>
              <a:buClr>
                <a:srgbClr val="F5A623"/>
              </a:buClr>
              <a:buChar char="•"/>
            </a:pPr>
            <a:r>
              <a:rPr sz="1800" b="0">
                <a:solidFill>
                  <a:srgbClr val="14202E"/>
                </a:solidFill>
                <a:latin typeface="Calibri"/>
              </a:rPr>
              <a:t>This is exactly how the investigation policy reaches the real Go2: high-level Move(vx, vy, vyaw) commands, or a learned gait writing q targets into LowCmd.</a:t>
            </a:r>
          </a:p>
          <a:p>
            <a:pPr algn="l" marL="274320" indent="-274320">
              <a:spcAft>
                <a:spcPts val="800"/>
              </a:spcAft>
              <a:buClr>
                <a:srgbClr val="F5A623"/>
              </a:buClr>
              <a:buChar char="•"/>
            </a:pPr>
            <a:r>
              <a:rPr sz="1800" b="0">
                <a:solidFill>
                  <a:srgbClr val="14202E"/>
                </a:solidFill>
                <a:latin typeface="Calibri"/>
              </a:rPr>
              <a:t>LowState also gives the motor data we would log to model the Go2's actuators (Slide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How the Four Sources Fit Together</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12 / 14</a:t>
            </a:r>
          </a:p>
        </p:txBody>
      </p:sp>
      <p:graphicFrame>
        <p:nvGraphicFramePr>
          <p:cNvPr id="6" name="Table 5"/>
          <p:cNvGraphicFramePr>
            <a:graphicFrameLocks noGrp="1"/>
          </p:cNvGraphicFramePr>
          <p:nvPr/>
        </p:nvGraphicFramePr>
        <p:xfrm>
          <a:off x="457200" y="1463039"/>
          <a:ext cx="11274552" cy="4754880"/>
        </p:xfrm>
        <a:graphic>
          <a:graphicData uri="http://schemas.openxmlformats.org/drawingml/2006/table">
            <a:tbl>
              <a:tblPr firstRow="1" bandRow="1">
                <a:tableStyleId>{5C22544A-7EE6-4342-B048-85BDC9FD1C3A}</a:tableStyleId>
              </a:tblPr>
              <a:tblGrid>
                <a:gridCol w="2651760"/>
                <a:gridCol w="3566160"/>
                <a:gridCol w="2377440"/>
                <a:gridCol w="2679192"/>
              </a:tblGrid>
              <a:tr h="950976">
                <a:tc>
                  <a:txBody>
                    <a:bodyPr/>
                    <a:lstStyle/>
                    <a:p>
                      <a:r>
                        <a:rPr sz="1800" b="1">
                          <a:solidFill>
                            <a:srgbClr val="FFFFFF"/>
                          </a:solidFill>
                          <a:latin typeface="Calibri"/>
                        </a:rPr>
                        <a:t>Source</a:t>
                      </a:r>
                    </a:p>
                  </a:txBody>
                  <a:tcPr anchor="ctr">
                    <a:solidFill>
                      <a:srgbClr val="0B1F3A"/>
                    </a:solidFill>
                  </a:tcPr>
                </a:tc>
                <a:tc>
                  <a:txBody>
                    <a:bodyPr/>
                    <a:lstStyle/>
                    <a:p>
                      <a:r>
                        <a:rPr sz="1800" b="1">
                          <a:solidFill>
                            <a:srgbClr val="FFFFFF"/>
                          </a:solidFill>
                          <a:latin typeface="Calibri"/>
                        </a:rPr>
                        <a:t>What it gives us</a:t>
                      </a:r>
                    </a:p>
                  </a:txBody>
                  <a:tcPr anchor="ctr">
                    <a:solidFill>
                      <a:srgbClr val="0B1F3A"/>
                    </a:solidFill>
                  </a:tcPr>
                </a:tc>
                <a:tc>
                  <a:txBody>
                    <a:bodyPr/>
                    <a:lstStyle/>
                    <a:p>
                      <a:r>
                        <a:rPr sz="1800" b="1">
                          <a:solidFill>
                            <a:srgbClr val="FFFFFF"/>
                          </a:solidFill>
                          <a:latin typeface="Calibri"/>
                        </a:rPr>
                        <a:t>Project stage</a:t>
                      </a:r>
                    </a:p>
                  </a:txBody>
                  <a:tcPr anchor="ctr">
                    <a:solidFill>
                      <a:srgbClr val="0B1F3A"/>
                    </a:solidFill>
                  </a:tcPr>
                </a:tc>
                <a:tc>
                  <a:txBody>
                    <a:bodyPr/>
                    <a:lstStyle/>
                    <a:p>
                      <a:r>
                        <a:rPr sz="1800" b="1">
                          <a:solidFill>
                            <a:srgbClr val="FFFFFF"/>
                          </a:solidFill>
                          <a:latin typeface="Calibri"/>
                        </a:rPr>
                        <a:t>Risk it addresses</a:t>
                      </a:r>
                    </a:p>
                  </a:txBody>
                  <a:tcPr anchor="ctr">
                    <a:solidFill>
                      <a:srgbClr val="0B1F3A"/>
                    </a:solidFill>
                  </a:tcPr>
                </a:tc>
              </a:tr>
              <a:tr h="950976">
                <a:tc>
                  <a:txBody>
                    <a:bodyPr/>
                    <a:lstStyle/>
                    <a:p>
                      <a:r>
                        <a:rPr sz="1700" b="1">
                          <a:solidFill>
                            <a:srgbClr val="F5A623"/>
                          </a:solidFill>
                          <a:latin typeface="Calibri"/>
                        </a:rPr>
                        <a:t>Hwangbo et al. (2019)</a:t>
                      </a:r>
                    </a:p>
                  </a:txBody>
                  <a:tcPr anchor="ctr">
                    <a:solidFill>
                      <a:srgbClr val="FFFFFF"/>
                    </a:solidFill>
                  </a:tcPr>
                </a:tc>
                <a:tc>
                  <a:txBody>
                    <a:bodyPr/>
                    <a:lstStyle/>
                    <a:p>
                      <a:r>
                        <a:rPr sz="1700" b="0">
                          <a:solidFill>
                            <a:srgbClr val="14202E"/>
                          </a:solidFill>
                          <a:latin typeface="Calibri"/>
                        </a:rPr>
                        <a:t>Hybrid simulator idea: learned actuator network + PD position targets</a:t>
                      </a:r>
                    </a:p>
                  </a:txBody>
                  <a:tcPr anchor="ctr">
                    <a:solidFill>
                      <a:srgbClr val="FFFFFF"/>
                    </a:solidFill>
                  </a:tcPr>
                </a:tc>
                <a:tc>
                  <a:txBody>
                    <a:bodyPr/>
                    <a:lstStyle/>
                    <a:p>
                      <a:r>
                        <a:rPr sz="1700" b="0">
                          <a:solidFill>
                            <a:srgbClr val="14202E"/>
                          </a:solidFill>
                          <a:latin typeface="Calibri"/>
                        </a:rPr>
                        <a:t>Simulation + sim-to-real</a:t>
                      </a:r>
                    </a:p>
                  </a:txBody>
                  <a:tcPr anchor="ctr">
                    <a:solidFill>
                      <a:srgbClr val="FFFFFF"/>
                    </a:solidFill>
                  </a:tcPr>
                </a:tc>
                <a:tc>
                  <a:txBody>
                    <a:bodyPr/>
                    <a:lstStyle/>
                    <a:p>
                      <a:r>
                        <a:rPr sz="1700" b="0">
                          <a:solidFill>
                            <a:srgbClr val="14202E"/>
                          </a:solidFill>
                          <a:latin typeface="Calibri"/>
                        </a:rPr>
                        <a:t>Policy fails on the real Go2's actuators</a:t>
                      </a:r>
                    </a:p>
                  </a:txBody>
                  <a:tcPr anchor="ctr">
                    <a:solidFill>
                      <a:srgbClr val="FFFFFF"/>
                    </a:solidFill>
                  </a:tcPr>
                </a:tc>
              </a:tr>
              <a:tr h="950976">
                <a:tc>
                  <a:txBody>
                    <a:bodyPr/>
                    <a:lstStyle/>
                    <a:p>
                      <a:r>
                        <a:rPr sz="1700" b="1">
                          <a:solidFill>
                            <a:srgbClr val="2EC4B6"/>
                          </a:solidFill>
                          <a:latin typeface="Calibri"/>
                        </a:rPr>
                        <a:t>Gurram et al. (2024)</a:t>
                      </a:r>
                    </a:p>
                  </a:txBody>
                  <a:tcPr anchor="ctr">
                    <a:solidFill>
                      <a:srgbClr val="F6F8FB"/>
                    </a:solidFill>
                  </a:tcPr>
                </a:tc>
                <a:tc>
                  <a:txBody>
                    <a:bodyPr/>
                    <a:lstStyle/>
                    <a:p>
                      <a:r>
                        <a:rPr sz="1700" b="0">
                          <a:solidFill>
                            <a:srgbClr val="14202E"/>
                          </a:solidFill>
                          <a:latin typeface="Calibri"/>
                        </a:rPr>
                        <a:t>Toolbox: domain randomization, teacher-student, RMA, PPO, curriculum</a:t>
                      </a:r>
                    </a:p>
                  </a:txBody>
                  <a:tcPr anchor="ctr">
                    <a:solidFill>
                      <a:srgbClr val="F6F8FB"/>
                    </a:solidFill>
                  </a:tcPr>
                </a:tc>
                <a:tc>
                  <a:txBody>
                    <a:bodyPr/>
                    <a:lstStyle/>
                    <a:p>
                      <a:r>
                        <a:rPr sz="1700" b="0">
                          <a:solidFill>
                            <a:srgbClr val="14202E"/>
                          </a:solidFill>
                          <a:latin typeface="Calibri"/>
                        </a:rPr>
                        <a:t>RL training</a:t>
                      </a:r>
                    </a:p>
                  </a:txBody>
                  <a:tcPr anchor="ctr">
                    <a:solidFill>
                      <a:srgbClr val="F6F8FB"/>
                    </a:solidFill>
                  </a:tcPr>
                </a:tc>
                <a:tc>
                  <a:txBody>
                    <a:bodyPr/>
                    <a:lstStyle/>
                    <a:p>
                      <a:r>
                        <a:rPr sz="1700" b="0">
                          <a:solidFill>
                            <a:srgbClr val="14202E"/>
                          </a:solidFill>
                          <a:latin typeface="Calibri"/>
                        </a:rPr>
                        <a:t>Unknown floors (wet, carpet, debris)</a:t>
                      </a:r>
                    </a:p>
                  </a:txBody>
                  <a:tcPr anchor="ctr">
                    <a:solidFill>
                      <a:srgbClr val="F6F8FB"/>
                    </a:solidFill>
                  </a:tcPr>
                </a:tc>
              </a:tr>
              <a:tr h="950976">
                <a:tc>
                  <a:txBody>
                    <a:bodyPr/>
                    <a:lstStyle/>
                    <a:p>
                      <a:r>
                        <a:rPr sz="1700" b="1">
                          <a:solidFill>
                            <a:srgbClr val="8E6CEF"/>
                          </a:solidFill>
                          <a:latin typeface="Calibri"/>
                        </a:rPr>
                        <a:t>Kine2Go dataset</a:t>
                      </a:r>
                    </a:p>
                  </a:txBody>
                  <a:tcPr anchor="ctr">
                    <a:solidFill>
                      <a:srgbClr val="FFFFFF"/>
                    </a:solidFill>
                  </a:tcPr>
                </a:tc>
                <a:tc>
                  <a:txBody>
                    <a:bodyPr/>
                    <a:lstStyle/>
                    <a:p>
                      <a:r>
                        <a:rPr sz="1700" b="0">
                          <a:solidFill>
                            <a:srgbClr val="14202E"/>
                          </a:solidFill>
                          <a:latin typeface="Calibri"/>
                        </a:rPr>
                        <a:t>800 simulated Go2 rollouts from 40 dog/horse/robot clips</a:t>
                      </a:r>
                    </a:p>
                  </a:txBody>
                  <a:tcPr anchor="ctr">
                    <a:solidFill>
                      <a:srgbClr val="FFFFFF"/>
                    </a:solidFill>
                  </a:tcPr>
                </a:tc>
                <a:tc>
                  <a:txBody>
                    <a:bodyPr/>
                    <a:lstStyle/>
                    <a:p>
                      <a:r>
                        <a:rPr sz="1700" b="0">
                          <a:solidFill>
                            <a:srgbClr val="14202E"/>
                          </a:solidFill>
                          <a:latin typeface="Calibri"/>
                        </a:rPr>
                        <a:t>Motion priors for training</a:t>
                      </a:r>
                    </a:p>
                  </a:txBody>
                  <a:tcPr anchor="ctr">
                    <a:solidFill>
                      <a:srgbClr val="FFFFFF"/>
                    </a:solidFill>
                  </a:tcPr>
                </a:tc>
                <a:tc>
                  <a:txBody>
                    <a:bodyPr/>
                    <a:lstStyle/>
                    <a:p>
                      <a:r>
                        <a:rPr sz="1700" b="0">
                          <a:solidFill>
                            <a:srgbClr val="14202E"/>
                          </a:solidFill>
                          <a:latin typeface="Calibri"/>
                        </a:rPr>
                        <a:t>Hand-designing careful search gaits</a:t>
                      </a:r>
                    </a:p>
                  </a:txBody>
                  <a:tcPr anchor="ctr">
                    <a:solidFill>
                      <a:srgbClr val="FFFFFF"/>
                    </a:solidFill>
                  </a:tcPr>
                </a:tc>
              </a:tr>
              <a:tr h="950976">
                <a:tc>
                  <a:txBody>
                    <a:bodyPr/>
                    <a:lstStyle/>
                    <a:p>
                      <a:r>
                        <a:rPr sz="1700" b="1">
                          <a:solidFill>
                            <a:srgbClr val="E5484D"/>
                          </a:solidFill>
                          <a:latin typeface="Calibri"/>
                        </a:rPr>
                        <a:t>unitree_sdk2_python</a:t>
                      </a:r>
                    </a:p>
                  </a:txBody>
                  <a:tcPr anchor="ctr">
                    <a:solidFill>
                      <a:srgbClr val="F6F8FB"/>
                    </a:solidFill>
                  </a:tcPr>
                </a:tc>
                <a:tc>
                  <a:txBody>
                    <a:bodyPr/>
                    <a:lstStyle/>
                    <a:p>
                      <a:r>
                        <a:rPr sz="1700" b="0">
                          <a:solidFill>
                            <a:srgbClr val="14202E"/>
                          </a:solidFill>
                          <a:latin typeface="Calibri"/>
                        </a:rPr>
                        <a:t>SportClient.Move and LowState/LowCmd over DDS</a:t>
                      </a:r>
                    </a:p>
                  </a:txBody>
                  <a:tcPr anchor="ctr">
                    <a:solidFill>
                      <a:srgbClr val="F6F8FB"/>
                    </a:solidFill>
                  </a:tcPr>
                </a:tc>
                <a:tc>
                  <a:txBody>
                    <a:bodyPr/>
                    <a:lstStyle/>
                    <a:p>
                      <a:r>
                        <a:rPr sz="1700" b="0">
                          <a:solidFill>
                            <a:srgbClr val="14202E"/>
                          </a:solidFill>
                          <a:latin typeface="Calibri"/>
                        </a:rPr>
                        <a:t>Deployment on the real Go2</a:t>
                      </a:r>
                    </a:p>
                  </a:txBody>
                  <a:tcPr anchor="ctr">
                    <a:solidFill>
                      <a:srgbClr val="F6F8FB"/>
                    </a:solidFill>
                  </a:tcPr>
                </a:tc>
                <a:tc>
                  <a:txBody>
                    <a:bodyPr/>
                    <a:lstStyle/>
                    <a:p>
                      <a:r>
                        <a:rPr sz="1700" b="0">
                          <a:solidFill>
                            <a:srgbClr val="14202E"/>
                          </a:solidFill>
                          <a:latin typeface="Calibri"/>
                        </a:rPr>
                        <a:t>Unsafe or mismatched deployment</a:t>
                      </a:r>
                    </a:p>
                  </a:txBody>
                  <a:tcPr anchor="ctr">
                    <a:solidFill>
                      <a:srgbClr val="F6F8FB"/>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Next Steps</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13 / 14</a:t>
            </a:r>
          </a:p>
        </p:txBody>
      </p:sp>
      <p:sp>
        <p:nvSpPr>
          <p:cNvPr id="6" name="TextBox 5"/>
          <p:cNvSpPr txBox="1"/>
          <p:nvPr/>
        </p:nvSpPr>
        <p:spPr>
          <a:xfrm>
            <a:off x="640080" y="1600200"/>
            <a:ext cx="10911535" cy="4846320"/>
          </a:xfrm>
          <a:prstGeom prst="rect">
            <a:avLst/>
          </a:prstGeom>
          <a:noFill/>
        </p:spPr>
        <p:txBody>
          <a:bodyPr wrap="square" anchor="t" lIns="73152" rIns="73152" tIns="36576" bIns="36576">
            <a:spAutoFit/>
          </a:bodyPr>
          <a:lstStyle/>
          <a:p>
            <a:pPr algn="l" marL="411480" indent="-411480">
              <a:spcAft>
                <a:spcPts val="1800"/>
              </a:spcAft>
            </a:pPr>
            <a:r>
              <a:rPr sz="2400" b="0">
                <a:solidFill>
                  <a:srgbClr val="14202E"/>
                </a:solidFill>
                <a:latin typeface="Calibri"/>
              </a:rPr>
              <a:t>1.  Build the crime-scene simulation (stain patterns, varied floors, a Go2 model).</a:t>
            </a:r>
          </a:p>
          <a:p>
            <a:pPr algn="l" marL="411480" indent="-411480">
              <a:spcAft>
                <a:spcPts val="1800"/>
              </a:spcAft>
            </a:pPr>
            <a:r>
              <a:rPr sz="2400" b="0">
                <a:solidFill>
                  <a:srgbClr val="14202E"/>
                </a:solidFill>
                <a:latin typeface="Calibri"/>
              </a:rPr>
              <a:t>2.  Train the locomotion and investigation policies with domain randomization.</a:t>
            </a:r>
          </a:p>
          <a:p>
            <a:pPr algn="l" marL="411480" indent="-411480">
              <a:spcAft>
                <a:spcPts val="1800"/>
              </a:spcAft>
            </a:pPr>
            <a:r>
              <a:rPr sz="2400" b="0">
                <a:solidFill>
                  <a:srgbClr val="14202E"/>
                </a:solidFill>
                <a:latin typeface="Calibri"/>
              </a:rPr>
              <a:t>3.  Log real Go2 motor data through LowState to check (or learn) the actuator model.</a:t>
            </a:r>
          </a:p>
          <a:p>
            <a:pPr algn="l" marL="411480" indent="-411480">
              <a:spcAft>
                <a:spcPts val="1800"/>
              </a:spcAft>
            </a:pPr>
            <a:r>
              <a:rPr sz="2400" b="0">
                <a:solidFill>
                  <a:srgbClr val="14202E"/>
                </a:solidFill>
                <a:latin typeface="Calibri"/>
              </a:rPr>
              <a:t>4.  Deploy through the SDK with safety limits: clear area, low gains, sport mode handled correctly.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
            <a:ext cx="10088575" cy="905255"/>
          </a:xfrm>
          <a:prstGeom prst="rect">
            <a:avLst/>
          </a:prstGeom>
          <a:noFill/>
        </p:spPr>
        <p:txBody>
          <a:bodyPr wrap="square" anchor="ctr" lIns="73152" rIns="73152" tIns="36576" bIns="36576">
            <a:spAutoFit/>
          </a:bodyPr>
          <a:lstStyle/>
          <a:p>
            <a:pPr algn="l">
              <a:spcAft>
                <a:spcPts val="800"/>
              </a:spcAft>
            </a:pPr>
            <a:r>
              <a:rPr sz="3600" b="1">
                <a:solidFill>
                  <a:srgbClr val="FFFFFF"/>
                </a:solidFill>
                <a:latin typeface="Calibri"/>
              </a:rPr>
              <a:t>References</a:t>
            </a:r>
          </a:p>
        </p:txBody>
      </p:sp>
      <p:sp>
        <p:nvSpPr>
          <p:cNvPr id="5" name="TextBox 4"/>
          <p:cNvSpPr txBox="1"/>
          <p:nvPr/>
        </p:nvSpPr>
        <p:spPr>
          <a:xfrm>
            <a:off x="10545775" y="73152"/>
            <a:ext cx="1280160" cy="905255"/>
          </a:xfrm>
          <a:prstGeom prst="rect">
            <a:avLst/>
          </a:prstGeom>
          <a:noFill/>
        </p:spPr>
        <p:txBody>
          <a:bodyPr wrap="square" anchor="ctr" lIns="73152" rIns="73152" tIns="36576" bIns="36576">
            <a:spAutoFit/>
          </a:bodyPr>
          <a:lstStyle/>
          <a:p>
            <a:pPr algn="r">
              <a:spcAft>
                <a:spcPts val="800"/>
              </a:spcAft>
            </a:pPr>
            <a:r>
              <a:rPr sz="1800" b="1">
                <a:solidFill>
                  <a:srgbClr val="F5A623"/>
                </a:solidFill>
                <a:latin typeface="Calibri"/>
              </a:rPr>
              <a:t>14 / 14</a:t>
            </a:r>
          </a:p>
        </p:txBody>
      </p:sp>
      <p:sp>
        <p:nvSpPr>
          <p:cNvPr id="6" name="TextBox 5"/>
          <p:cNvSpPr txBox="1"/>
          <p:nvPr/>
        </p:nvSpPr>
        <p:spPr>
          <a:xfrm>
            <a:off x="640080" y="1508760"/>
            <a:ext cx="10911535" cy="5120640"/>
          </a:xfrm>
          <a:prstGeom prst="rect">
            <a:avLst/>
          </a:prstGeom>
          <a:noFill/>
        </p:spPr>
        <p:txBody>
          <a:bodyPr wrap="square" anchor="t" lIns="73152" rIns="73152" tIns="36576" bIns="36576">
            <a:spAutoFit/>
          </a:bodyPr>
          <a:lstStyle/>
          <a:p>
            <a:pPr algn="l" marL="457200" indent="-457200">
              <a:spcAft>
                <a:spcPts val="1400"/>
              </a:spcAft>
            </a:pPr>
            <a:r>
              <a:rPr sz="2000" b="0">
                <a:solidFill>
                  <a:srgbClr val="14202E"/>
                </a:solidFill>
                <a:latin typeface="Calibri"/>
              </a:rPr>
              <a:t>Gurram, M., Uttam, P. K., &amp; Ohol, S. S. (2024). Reinforcement learning for quadrupedal locomotion: Current advancements and future perspectives [Preprint]. arXiv. https://arxiv.org/abs/2410.10438v1</a:t>
            </a:r>
          </a:p>
          <a:p>
            <a:pPr algn="l" marL="457200" indent="-457200">
              <a:spcAft>
                <a:spcPts val="1400"/>
              </a:spcAft>
            </a:pPr>
            <a:r>
              <a:rPr sz="2000" b="0">
                <a:solidFill>
                  <a:srgbClr val="14202E"/>
                </a:solidFill>
                <a:latin typeface="Calibri"/>
              </a:rPr>
              <a:t>Hwangbo, J., Lee, J., Dosovitskiy, A., Bellicoso, D., Tsounis, V., Koltun, V., &amp; Hutter, M. (2019). Learning agile and dynamic motor skills for legged robots. Science Robotics. https://arxiv.org/abs/1901.08652</a:t>
            </a:r>
          </a:p>
          <a:p>
            <a:pPr algn="l" marL="457200" indent="-457200">
              <a:spcAft>
                <a:spcPts val="1400"/>
              </a:spcAft>
            </a:pPr>
            <a:r>
              <a:rPr sz="2000" b="0">
                <a:solidFill>
                  <a:srgbClr val="14202E"/>
                </a:solidFill>
                <a:latin typeface="Calibri"/>
              </a:rPr>
              <a:t>MIMUW Robotics. (n.d.). Kine2Go: Kinematic dataset for the Unitree Go2 robot with diverse gaits and motions [Data set]. Hugging Face. https://huggingface.co/datasets/MIMUW-Robotics/kine2go</a:t>
            </a:r>
          </a:p>
          <a:p>
            <a:pPr algn="l" marL="457200" indent="-457200">
              <a:spcAft>
                <a:spcPts val="1400"/>
              </a:spcAft>
            </a:pPr>
            <a:r>
              <a:rPr sz="2000" b="0">
                <a:solidFill>
                  <a:srgbClr val="14202E"/>
                </a:solidFill>
                <a:latin typeface="Calibri"/>
              </a:rPr>
              <a:t>Unitree Robotics. (n.d.). unitree_sdk2_python [Computer software]. GitHub. https://github.com/unitreerobotics/unitree_sdk2_python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